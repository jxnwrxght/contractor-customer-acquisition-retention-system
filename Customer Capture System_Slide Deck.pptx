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gC5XK3MbKyEKhFibdnzU8XO6Gr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6E5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6858000" y="0"/>
            <a:ext cx="5303520" cy="6858000"/>
          </a:xfrm>
          <a:prstGeom prst="rect">
            <a:avLst/>
          </a:prstGeom>
          <a:solidFill>
            <a:srgbClr val="0A5245"/>
          </a:solidFill>
          <a:ln cap="flat" cmpd="sng" w="12700">
            <a:solidFill>
              <a:srgbClr val="0A5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45720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WRIGHT AUTOMATION CONSULTING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188720"/>
            <a:ext cx="621792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Customer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Capture System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3566160"/>
            <a:ext cx="594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Turn Missed Calls Into Booked Jobs — Automatically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4160520"/>
            <a:ext cx="1097280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48640" y="43434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Product Showcase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498080" y="1645920"/>
            <a:ext cx="3657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Calibri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$299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498080" y="265176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setup  +  $59/month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8046720" y="3200400"/>
            <a:ext cx="2560320" cy="54864"/>
          </a:xfrm>
          <a:prstGeom prst="rect">
            <a:avLst/>
          </a:prstGeom>
          <a:solidFill>
            <a:srgbClr val="0A5245"/>
          </a:solidFill>
          <a:ln cap="flat" cmpd="sng" w="12700">
            <a:solidFill>
              <a:srgbClr val="0A5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7498080" y="34290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Washington, DC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98080" y="37490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jonpwright1216@gmail.com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498080" y="40690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(571) 512-8906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548640" y="9144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0515600" y="9144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1280160"/>
            <a:ext cx="4114800" cy="411480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640080" y="1463040"/>
            <a:ext cx="3931920" cy="3749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Missed Call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 a Lost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120640" y="1280160"/>
            <a:ext cx="649224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120640" y="1280160"/>
            <a:ext cx="73152" cy="12344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5349240" y="1389888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Owners miss calls constantly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349240" y="169164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They're on a job, with a client, or simply unavailable. That's the nature of the work.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120640" y="2697480"/>
            <a:ext cx="649224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5120640" y="2697480"/>
            <a:ext cx="73152" cy="12344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349240" y="2807208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Callers don't wait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349240" y="310896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Most people who don't reach a business immediately move on to the next option. No voicemail. No callback.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5120640" y="4114800"/>
            <a:ext cx="649224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5120640" y="4114800"/>
            <a:ext cx="73152" cy="123444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5349240" y="4224528"/>
            <a:ext cx="6126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No system = lost revenue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349240" y="4526280"/>
            <a:ext cx="6126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Without a capture system, every missed call is money that walks out the door — multiple times per day.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48640" y="9144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0515600" y="9144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 four-automation workflow that captures, responds, logs, and follows up on every lead — 24/7, with no manual input required.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48640" y="1783080"/>
            <a:ext cx="2468880" cy="502920"/>
          </a:xfrm>
          <a:prstGeom prst="rect">
            <a:avLst/>
          </a:prstGeom>
          <a:solidFill>
            <a:srgbClr val="FF6A00"/>
          </a:solidFill>
          <a:ln cap="flat" cmpd="sng" w="12700">
            <a:solidFill>
              <a:srgbClr val="FF6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548640" y="17830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Zapier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337560" y="1783080"/>
            <a:ext cx="2468880" cy="502920"/>
          </a:xfrm>
          <a:prstGeom prst="rect">
            <a:avLst/>
          </a:prstGeom>
          <a:solidFill>
            <a:srgbClr val="C8D400"/>
          </a:solidFill>
          <a:ln cap="flat" cmpd="sng" w="12700">
            <a:solidFill>
              <a:srgbClr val="C8D4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3337560" y="17830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126480" y="1783080"/>
            <a:ext cx="2468880" cy="502920"/>
          </a:xfrm>
          <a:prstGeom prst="rect">
            <a:avLst/>
          </a:prstGeom>
          <a:solidFill>
            <a:srgbClr val="10A37F"/>
          </a:solidFill>
          <a:ln cap="flat" cmpd="sng" w="12700">
            <a:solidFill>
              <a:srgbClr val="10A3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6126480" y="17830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ChatGPT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915400" y="1783080"/>
            <a:ext cx="2468880" cy="502920"/>
          </a:xfrm>
          <a:prstGeom prst="rect">
            <a:avLst/>
          </a:prstGeom>
          <a:solidFill>
            <a:srgbClr val="0F9D58"/>
          </a:solidFill>
          <a:ln cap="flat" cmpd="sng" w="12700">
            <a:solidFill>
              <a:srgbClr val="0F9D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915400" y="178308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Sheets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48640" y="2514600"/>
            <a:ext cx="5303520" cy="13258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548640" y="2514600"/>
            <a:ext cx="502920" cy="132588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548640" y="2514600"/>
            <a:ext cx="502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143000" y="262432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Missed Call Auto-Response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143000" y="29718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Missed call detected → immediate text sent to caller automatically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126480" y="2514600"/>
            <a:ext cx="5303520" cy="13258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126480" y="2514600"/>
            <a:ext cx="502920" cy="132588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6126480" y="2514600"/>
            <a:ext cx="502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720840" y="262432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 Text Response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720840" y="297180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ChatGPT reads the reply and sends a personalized response based on business context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48640" y="4023360"/>
            <a:ext cx="5303520" cy="13258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548640" y="4023360"/>
            <a:ext cx="502920" cy="132588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548640" y="4023360"/>
            <a:ext cx="502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143000" y="413308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Lead Logging + Notification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143000" y="448056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Every contact logged to Google Sheets with timestamp. Owner notified instantly.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126480" y="4023360"/>
            <a:ext cx="5303520" cy="132588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6126480" y="4023360"/>
            <a:ext cx="502920" cy="132588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6126480" y="4023360"/>
            <a:ext cx="502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6720840" y="4133088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Review 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720840" y="4480560"/>
            <a:ext cx="4572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After payment, system auto-sends a Google review link to the customer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48640" y="9144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0515600" y="9144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914400" y="1188720"/>
            <a:ext cx="822960" cy="822960"/>
          </a:xfrm>
          <a:prstGeom prst="ellipse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914400" y="11887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" name="Google Shape;97;p4"/>
          <p:cNvCxnSpPr/>
          <p:nvPr/>
        </p:nvCxnSpPr>
        <p:spPr>
          <a:xfrm>
            <a:off x="1828800" y="160020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4"/>
          <p:cNvSpPr/>
          <p:nvPr/>
        </p:nvSpPr>
        <p:spPr>
          <a:xfrm>
            <a:off x="457200" y="2148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Missed Call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57200" y="2560320"/>
            <a:ext cx="178308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48640" y="2697480"/>
            <a:ext cx="1600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Customer calls. Owner is busy. Call goes unanswered.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2788920" y="1188720"/>
            <a:ext cx="822960" cy="822960"/>
          </a:xfrm>
          <a:prstGeom prst="ellipse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2788920" y="11887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3" name="Google Shape;103;p4"/>
          <p:cNvCxnSpPr/>
          <p:nvPr/>
        </p:nvCxnSpPr>
        <p:spPr>
          <a:xfrm>
            <a:off x="3703320" y="160020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" name="Google Shape;104;p4"/>
          <p:cNvSpPr/>
          <p:nvPr/>
        </p:nvSpPr>
        <p:spPr>
          <a:xfrm>
            <a:off x="2331720" y="2148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 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331720" y="2560320"/>
            <a:ext cx="178308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2423160" y="2697480"/>
            <a:ext cx="1600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System detects the missed call and texts the customer immediately.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663440" y="1188720"/>
            <a:ext cx="822960" cy="822960"/>
          </a:xfrm>
          <a:prstGeom prst="ellipse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663440" y="11887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" name="Google Shape;109;p4"/>
          <p:cNvCxnSpPr/>
          <p:nvPr/>
        </p:nvCxnSpPr>
        <p:spPr>
          <a:xfrm>
            <a:off x="5577840" y="160020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" name="Google Shape;110;p4"/>
          <p:cNvSpPr/>
          <p:nvPr/>
        </p:nvSpPr>
        <p:spPr>
          <a:xfrm>
            <a:off x="4206240" y="2148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Customer Replies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206240" y="2560320"/>
            <a:ext cx="178308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4297680" y="2697480"/>
            <a:ext cx="1600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Customer texts back with their question or request.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6537960" y="1188720"/>
            <a:ext cx="822960" cy="822960"/>
          </a:xfrm>
          <a:prstGeom prst="ellipse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6537960" y="11887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4"/>
          <p:cNvCxnSpPr/>
          <p:nvPr/>
        </p:nvCxnSpPr>
        <p:spPr>
          <a:xfrm>
            <a:off x="7452360" y="160020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" name="Google Shape;116;p4"/>
          <p:cNvSpPr/>
          <p:nvPr/>
        </p:nvSpPr>
        <p:spPr>
          <a:xfrm>
            <a:off x="6080760" y="2148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AI Responds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080760" y="2560320"/>
            <a:ext cx="178308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172200" y="2697480"/>
            <a:ext cx="1600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ChatGPT reads the message and sends a personalized reply.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8412480" y="1188720"/>
            <a:ext cx="822960" cy="822960"/>
          </a:xfrm>
          <a:prstGeom prst="ellipse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8412480" y="11887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9326880" y="1600200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4"/>
          <p:cNvSpPr/>
          <p:nvPr/>
        </p:nvSpPr>
        <p:spPr>
          <a:xfrm>
            <a:off x="7955280" y="2148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Lead Logged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955280" y="2560320"/>
            <a:ext cx="178308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8046720" y="2697480"/>
            <a:ext cx="1600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Contact info and conversation saved to Google Sheets automatically.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0287000" y="1188720"/>
            <a:ext cx="822960" cy="822960"/>
          </a:xfrm>
          <a:prstGeom prst="ellipse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10287000" y="118872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9829800" y="21488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Owner Notified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9829800" y="2560320"/>
            <a:ext cx="1783080" cy="21945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9921240" y="2697480"/>
            <a:ext cx="1600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Owner gets an alert and can follow up personally if needed.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system runs 24/7. No manual input required from the business owner.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548640" y="9144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BUILD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10515600" y="9144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48640" y="118872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6E5A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0D6E5A"/>
                </a:solidFill>
                <a:latin typeface="Calibri"/>
                <a:ea typeface="Calibri"/>
                <a:cs typeface="Calibri"/>
                <a:sym typeface="Calibri"/>
              </a:rPr>
              <a:t>System Architecture</a:t>
            </a:r>
            <a:endParaRPr b="1">
              <a:solidFill>
                <a:srgbClr val="0D6E5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48640" y="1691640"/>
            <a:ext cx="5212080" cy="566928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685800" y="17373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Zapier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685800" y="1965960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Automation backbone — connects all tools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48640" y="2377440"/>
            <a:ext cx="5212080" cy="566928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85800" y="24231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Quo (OpenPhone)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85800" y="2651760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Business phone system — detects calls and texts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48640" y="3063240"/>
            <a:ext cx="5212080" cy="566928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685800" y="31089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ChatGPT (OpenAI)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685800" y="3337560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AI layer — reads and responds to messages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48640" y="3749040"/>
            <a:ext cx="5212080" cy="566928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685800" y="37947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Google Sheets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685800" y="4023360"/>
            <a:ext cx="4937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Lead dashboard — logs every contact automatically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400800" y="1188720"/>
            <a:ext cx="5212080" cy="36576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6400800" y="1188720"/>
            <a:ext cx="5212080" cy="45720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6492240" y="11887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 Build Moment — The Loop Bug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6537960" y="1783080"/>
            <a:ext cx="493776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During testing, the missed call automation lacked a directional filter. Every outgoing text re-triggered the automation — creating an infinite loop. The system sent 100 texts before running out of credits.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Diagnosis: the trigger fired on all messages, not just incoming ones.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Fix: a filter condition placed before the send step, restricting execution to incoming messages only.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This is what real debugging looks like — and why testing before client deployment matters.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548640" y="50749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No custom code. Built entirely with no-code tooling.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5F5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48640" y="9144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0515600" y="9144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Simple. Transparent. No surprises.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48640" y="1691640"/>
            <a:ext cx="521208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548640" y="1691640"/>
            <a:ext cx="5212080" cy="50292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548640" y="169164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SETUP &amp; INSTALLATION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48640" y="2286000"/>
            <a:ext cx="521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6E5A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0D6E5A"/>
                </a:solidFill>
                <a:latin typeface="Calibri"/>
                <a:ea typeface="Calibri"/>
                <a:cs typeface="Calibri"/>
                <a:sym typeface="Calibri"/>
              </a:rPr>
              <a:t>$299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48640" y="30632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One-time fee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77240" y="34290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Full automation build and configuration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77240" y="367588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Missed call auto-response setup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777240" y="3922776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AI message response system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777240" y="4169664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Lead capture dashboard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77240" y="4416552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Google review automation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777240" y="466344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Full testing and launch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400800" y="1691640"/>
            <a:ext cx="5212080" cy="33832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6400800" y="1691640"/>
            <a:ext cx="5212080" cy="50292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6400800" y="1691640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ONGOING MONITORING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400800" y="2286000"/>
            <a:ext cx="5212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$59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400800" y="3063240"/>
            <a:ext cx="5212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Per month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629400" y="342900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System monitoring and uptime checks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629400" y="3675888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Automation updates and improvements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629400" y="3922776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AI response tuning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629400" y="4169664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0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Technical support if anything breaks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548640" y="521208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 1-2 extra jobs per week pays for the entire system. Most businesses see ROI within the first month.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A1A1A"/>
          </a:solidFill>
          <a:ln cap="flat" cmpd="sng" w="12700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548640" y="9144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 IT'S FOR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0515600" y="91440"/>
            <a:ext cx="1371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DDDDDD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DDDDDD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Small service businesses where the owner is the operator — too busy to catch every call.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48640" y="1737360"/>
            <a:ext cx="2560320" cy="5943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548640" y="1737360"/>
            <a:ext cx="64008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731520" y="173736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Plumbers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3337560" y="1737360"/>
            <a:ext cx="2560320" cy="5943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"/>
          <p:cNvSpPr/>
          <p:nvPr/>
        </p:nvSpPr>
        <p:spPr>
          <a:xfrm>
            <a:off x="3337560" y="1737360"/>
            <a:ext cx="64008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3520440" y="173736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HVAC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126480" y="1737360"/>
            <a:ext cx="2560320" cy="5943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6126480" y="1737360"/>
            <a:ext cx="64008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7"/>
          <p:cNvSpPr/>
          <p:nvPr/>
        </p:nvSpPr>
        <p:spPr>
          <a:xfrm>
            <a:off x="6309360" y="173736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Electricians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8915400" y="1737360"/>
            <a:ext cx="2560320" cy="5943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8915400" y="1737360"/>
            <a:ext cx="64008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9098280" y="173736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Roofers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48640" y="2514600"/>
            <a:ext cx="2560320" cy="5943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548640" y="2514600"/>
            <a:ext cx="64008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7"/>
          <p:cNvSpPr/>
          <p:nvPr/>
        </p:nvSpPr>
        <p:spPr>
          <a:xfrm>
            <a:off x="731520" y="251460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Barbers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3337560" y="2514600"/>
            <a:ext cx="2560320" cy="5943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3337560" y="2514600"/>
            <a:ext cx="64008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3520440" y="251460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Salons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126480" y="2514600"/>
            <a:ext cx="2560320" cy="5943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6126480" y="2514600"/>
            <a:ext cx="64008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6309360" y="251460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Dentists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915400" y="2514600"/>
            <a:ext cx="2560320" cy="5943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8915400" y="2514600"/>
            <a:ext cx="64008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/>
          <p:nvPr/>
        </p:nvSpPr>
        <p:spPr>
          <a:xfrm>
            <a:off x="9098280" y="251460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Auto Detailers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548640" y="3291840"/>
            <a:ext cx="2560320" cy="5943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548640" y="3291840"/>
            <a:ext cx="64008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731520" y="32918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Contractors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337560" y="3291840"/>
            <a:ext cx="2560320" cy="5943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3337560" y="3291840"/>
            <a:ext cx="64008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3520440" y="32918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Landscapers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6126480" y="3291840"/>
            <a:ext cx="2560320" cy="5943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6126480" y="3291840"/>
            <a:ext cx="64008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6309360" y="32918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Cleaners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8915400" y="3291840"/>
            <a:ext cx="2560320" cy="59436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8915400" y="3291840"/>
            <a:ext cx="64008" cy="594360"/>
          </a:xfrm>
          <a:prstGeom prst="rect">
            <a:avLst/>
          </a:prstGeom>
          <a:solidFill>
            <a:srgbClr val="00A896"/>
          </a:solidFill>
          <a:ln cap="flat" cmpd="sng" w="12700">
            <a:solidFill>
              <a:srgbClr val="00A89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9098280" y="3291840"/>
            <a:ext cx="2286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Any Service Business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48640" y="3977640"/>
            <a:ext cx="11064240" cy="1371600"/>
          </a:xfrm>
          <a:prstGeom prst="rect">
            <a:avLst/>
          </a:prstGeom>
          <a:solidFill>
            <a:srgbClr val="F5F5F5"/>
          </a:solidFill>
          <a:ln cap="flat" cmpd="sng" w="12700">
            <a:solidFill>
              <a:srgbClr val="DDDD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548640" y="3977640"/>
            <a:ext cx="73152" cy="137160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777240" y="40690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6E5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6E5A"/>
                </a:solidFill>
                <a:latin typeface="Calibri"/>
                <a:ea typeface="Calibri"/>
                <a:cs typeface="Calibri"/>
                <a:sym typeface="Calibri"/>
              </a:rPr>
              <a:t>Ideal Client Profile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777240" y="4407408"/>
            <a:ext cx="106984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1-10 employees  ·  Owner-operated  ·  Receives inbound calls  ·  Northern Virginia / Washington DC area  ·  Service-based business 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6E5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"/>
          <p:cNvSpPr/>
          <p:nvPr/>
        </p:nvSpPr>
        <p:spPr>
          <a:xfrm>
            <a:off x="6858000" y="0"/>
            <a:ext cx="5303520" cy="6858000"/>
          </a:xfrm>
          <a:prstGeom prst="rect">
            <a:avLst/>
          </a:prstGeom>
          <a:solidFill>
            <a:srgbClr val="0A5245"/>
          </a:solidFill>
          <a:ln cap="flat" cmpd="sng" w="12700">
            <a:solidFill>
              <a:srgbClr val="0A5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548640" y="45720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WRIGHT AUTOMATION CONSULTING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48640" y="1097280"/>
            <a:ext cx="59436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Ready to Stop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Losing Leads?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48640" y="301752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The system is built. It's tested. It works.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Let's deploy it for your business.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548640" y="3977640"/>
            <a:ext cx="1097280" cy="548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548640" y="420624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Email:  jonpwright1216@gmail.com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48640" y="457200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Phone:  (571) 512-8906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548640" y="4937760"/>
            <a:ext cx="5943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Location:  Washington, DC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7498080" y="137160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Investment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7498080" y="1828800"/>
            <a:ext cx="4114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Calibri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$299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7498080" y="26060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one-time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8503920" y="3017520"/>
            <a:ext cx="2103120" cy="36576"/>
          </a:xfrm>
          <a:prstGeom prst="rect">
            <a:avLst/>
          </a:prstGeom>
          <a:solidFill>
            <a:srgbClr val="0A5245"/>
          </a:solidFill>
          <a:ln cap="flat" cmpd="sng" w="12700">
            <a:solidFill>
              <a:srgbClr val="0A52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7498080" y="32004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$59 / month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7498080" y="36118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8D8C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A8D8CF"/>
                </a:solidFill>
                <a:latin typeface="Calibri"/>
                <a:ea typeface="Calibri"/>
                <a:cs typeface="Calibri"/>
                <a:sym typeface="Calibri"/>
              </a:rPr>
              <a:t>ongoing monitoring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2026-03-30T23:03:53Z</dcterms:created>
  <dc:creator>PptxGenJS</dc:creator>
</cp:coreProperties>
</file>